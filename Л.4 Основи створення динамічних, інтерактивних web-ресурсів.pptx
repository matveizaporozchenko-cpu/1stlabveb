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Mon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regular.fntdata"/><Relationship Id="rId14" Type="http://schemas.openxmlformats.org/officeDocument/2006/relationships/slide" Target="slides/slide9.xml"/><Relationship Id="rId17" Type="http://schemas.openxmlformats.org/officeDocument/2006/relationships/font" Target="fonts/RobotoMono-italic.fntdata"/><Relationship Id="rId16"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c488dca4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c488dca4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488dca4d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c488dca4d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c488dca4d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c488dca4d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488dca4d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c488dca4d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c488dca4d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c488dca4d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c488dca4d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c488dca4d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c488dca4d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c488dca4d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c488dca4d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c488dca4d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692350" y="2721175"/>
            <a:ext cx="3489275" cy="2571750"/>
          </a:xfrm>
          <a:prstGeom prst="rect">
            <a:avLst/>
          </a:prstGeom>
          <a:noFill/>
          <a:ln>
            <a:noFill/>
          </a:ln>
        </p:spPr>
      </p:pic>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Clr>
                <a:schemeClr val="dk1"/>
              </a:buClr>
              <a:buSzPct val="39285"/>
              <a:buFont typeface="Arial"/>
              <a:buNone/>
            </a:pPr>
            <a:r>
              <a:rPr lang="ru"/>
              <a:t>лектор: доцент, к.т.н. Бунке Олександр Сергійович</a:t>
            </a:r>
            <a:endParaRPr/>
          </a:p>
          <a:p>
            <a:pPr indent="0" lvl="0" marL="0" rtl="0" algn="ctr">
              <a:spcBef>
                <a:spcPts val="0"/>
              </a:spcBef>
              <a:spcAft>
                <a:spcPts val="0"/>
              </a:spcAft>
              <a:buNone/>
            </a:pPr>
            <a:r>
              <a:t/>
            </a:r>
            <a:endParaRPr/>
          </a:p>
        </p:txBody>
      </p:sp>
      <p:sp>
        <p:nvSpPr>
          <p:cNvPr id="56" name="Google Shape;56;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Основи створення динамічних, інтерактивних web-ресурсів</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125825"/>
            <a:ext cx="8520600" cy="47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ru" sz="1100">
                <a:solidFill>
                  <a:schemeClr val="dk1"/>
                </a:solidFill>
              </a:rPr>
              <a:t>Визначення динамічних та інтерактивних веб-сайтів</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Динамічні веб-сайти автоматично оновлюють контент та інтерфейс користувача без потреби вручного оновлення сторінки.</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Інтерактивні веб-сайти дозволяють користувачам взаємодіяти з контентом та елементами інтерфейсу, що призводить до негайної зміни вмісту або поведінки сайту.</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Ключові компоненти динамічності та інтерактивності</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Клієнтські скрипти (переважно JavaScript) для динамічного оновлення контенту.</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Серверні запити (через AJAX, API виклики) для отримання нових даних без перезавантаження сторінки.</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CSS анімації та переходи для покращення візуальної взаємодії.</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Роль JavaScript у створенні динамічних та інтерактивних елементів</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JavaScript як основа для створення інтерактивності на клієнтській стороні (VBscript, Flash - історія)</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Використання DOM (Document Object Model) для маніпуляції елементами сторінки.</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Відправлення асинхронних запитів до сервера для оновлення даних без перезавантаження сторінки (AJAX).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204475"/>
            <a:ext cx="8520600" cy="4616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ru" sz="1100">
                <a:solidFill>
                  <a:schemeClr val="dk1"/>
                </a:solidFill>
              </a:rPr>
              <a:t>JavaScript як мова веб-інтерактивності</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JavaScript — це універсальна мова програмування, що дозволяє реалізувати складну логіку на стороні клієнта, перетворюючи статичні веб-сторінки в інтерактивні веб-додатки.</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Всюдисущість JavaScript</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JavaScript є єдиною мовою програмування, яка виконується в браузері, роблячи її незамінною для веб-розробки. Всі сучасні веб-браузери підтримують JavaScript без необхідності встановлення додаткових плагінів.</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Історія та розвиток</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Короткий огляд історії JavaScript: від простого інструменту (</a:t>
            </a:r>
            <a:r>
              <a:rPr lang="ru" sz="1050">
                <a:solidFill>
                  <a:srgbClr val="1F1F1F"/>
                </a:solidFill>
                <a:highlight>
                  <a:srgbClr val="FFFFFF"/>
                </a:highlight>
              </a:rPr>
              <a:t>December 4, 1995</a:t>
            </a:r>
            <a:r>
              <a:rPr lang="ru" sz="1100">
                <a:solidFill>
                  <a:schemeClr val="dk1"/>
                </a:solidFill>
              </a:rPr>
              <a:t>) для додавання інтерактивних ефектів до сторінок до потужної мови програмування, яка лежить в основі сучасних (</a:t>
            </a:r>
            <a:r>
              <a:rPr b="1" lang="ru" sz="1050">
                <a:solidFill>
                  <a:srgbClr val="1F1F1F"/>
                </a:solidFill>
                <a:highlight>
                  <a:srgbClr val="FFFFFF"/>
                </a:highlight>
              </a:rPr>
              <a:t>ECMAScript 2023 / June 2023</a:t>
            </a:r>
            <a:r>
              <a:rPr lang="ru" sz="1100">
                <a:solidFill>
                  <a:schemeClr val="dk1"/>
                </a:solidFill>
              </a:rPr>
              <a:t>) фронтенд і бекенд платформ (Node.js).</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Можливості та застосування</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Використання JavaScript для маніпуляції DOM, створення динамічного контенту, валідації форм, розробки односторінкових додатків (SPA), а також для реалізації складних функцій веб-додатків, таких як ігри, візуалізація даних, живі чати тощо.</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JavaScript у взаємодії з іншими веб-технологіями</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Інтеграція з HTML і CSS для створення багатофункціональних, візуально привабливих веб-сайтів.</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Використання AJAX для асинхронної взаємодії з сервером, що дозволяє оновлювати частини веб-сторінки без перезавантаження всієї сторінки.</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1" type="body"/>
          </p:nvPr>
        </p:nvSpPr>
        <p:spPr>
          <a:xfrm>
            <a:off x="311700" y="196625"/>
            <a:ext cx="8520600" cy="437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ru" sz="1100">
                <a:solidFill>
                  <a:schemeClr val="dk1"/>
                </a:solidFill>
              </a:rPr>
              <a:t>Включення JavaScript у веб-сторінки</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Використання тега </a:t>
            </a:r>
            <a:r>
              <a:rPr lang="ru" sz="1100">
                <a:solidFill>
                  <a:srgbClr val="188038"/>
                </a:solidFill>
                <a:latin typeface="Roboto Mono"/>
                <a:ea typeface="Roboto Mono"/>
                <a:cs typeface="Roboto Mono"/>
                <a:sym typeface="Roboto Mono"/>
              </a:rPr>
              <a:t>&lt;script&gt;</a:t>
            </a:r>
            <a:r>
              <a:rPr lang="ru" sz="1100">
                <a:solidFill>
                  <a:schemeClr val="dk1"/>
                </a:solidFill>
              </a:rPr>
              <a:t> у </a:t>
            </a:r>
            <a:r>
              <a:rPr lang="ru" sz="1100">
                <a:solidFill>
                  <a:srgbClr val="188038"/>
                </a:solidFill>
                <a:latin typeface="Roboto Mono"/>
                <a:ea typeface="Roboto Mono"/>
                <a:cs typeface="Roboto Mono"/>
                <a:sym typeface="Roboto Mono"/>
              </a:rPr>
              <a:t>&lt;head&gt;</a:t>
            </a:r>
            <a:r>
              <a:rPr lang="ru" sz="1100">
                <a:solidFill>
                  <a:schemeClr val="dk1"/>
                </a:solidFill>
              </a:rPr>
              <a:t> або перед закриттям </a:t>
            </a:r>
            <a:r>
              <a:rPr lang="ru" sz="1100">
                <a:solidFill>
                  <a:srgbClr val="188038"/>
                </a:solidFill>
                <a:latin typeface="Roboto Mono"/>
                <a:ea typeface="Roboto Mono"/>
                <a:cs typeface="Roboto Mono"/>
                <a:sym typeface="Roboto Mono"/>
              </a:rPr>
              <a:t>&lt;/body&gt;</a:t>
            </a:r>
            <a:br>
              <a:rPr lang="ru" sz="1100">
                <a:solidFill>
                  <a:srgbClr val="188038"/>
                </a:solidFill>
                <a:latin typeface="Roboto Mono"/>
                <a:ea typeface="Roboto Mono"/>
                <a:cs typeface="Roboto Mono"/>
                <a:sym typeface="Roboto Mono"/>
              </a:rPr>
            </a:br>
            <a:r>
              <a:rPr lang="ru" sz="1050">
                <a:solidFill>
                  <a:srgbClr val="808080"/>
                </a:solidFill>
                <a:highlight>
                  <a:srgbClr val="1F1F1F"/>
                </a:highlight>
                <a:latin typeface="Courier New"/>
                <a:ea typeface="Courier New"/>
                <a:cs typeface="Courier New"/>
                <a:sym typeface="Courier New"/>
              </a:rPr>
              <a:t>&lt;</a:t>
            </a:r>
            <a:r>
              <a:rPr lang="ru" sz="1050">
                <a:solidFill>
                  <a:srgbClr val="569CD6"/>
                </a:solidFill>
                <a:highlight>
                  <a:srgbClr val="1F1F1F"/>
                </a:highlight>
                <a:latin typeface="Courier New"/>
                <a:ea typeface="Courier New"/>
                <a:cs typeface="Courier New"/>
                <a:sym typeface="Courier New"/>
              </a:rPr>
              <a:t>script</a:t>
            </a:r>
            <a:r>
              <a:rPr lang="ru" sz="1050">
                <a:solidFill>
                  <a:srgbClr val="D4D4D4"/>
                </a:solidFill>
                <a:highlight>
                  <a:srgbClr val="1F1F1F"/>
                </a:highlight>
                <a:latin typeface="Courier New"/>
                <a:ea typeface="Courier New"/>
                <a:cs typeface="Courier New"/>
                <a:sym typeface="Courier New"/>
              </a:rPr>
              <a:t> </a:t>
            </a:r>
            <a:r>
              <a:rPr lang="ru" sz="1050">
                <a:solidFill>
                  <a:srgbClr val="9CDCFE"/>
                </a:solidFill>
                <a:highlight>
                  <a:srgbClr val="1F1F1F"/>
                </a:highlight>
                <a:latin typeface="Courier New"/>
                <a:ea typeface="Courier New"/>
                <a:cs typeface="Courier New"/>
                <a:sym typeface="Courier New"/>
              </a:rPr>
              <a:t>src</a:t>
            </a:r>
            <a:r>
              <a:rPr lang="ru" sz="1050">
                <a:solidFill>
                  <a:srgbClr val="D4D4D4"/>
                </a:solidFill>
                <a:highlight>
                  <a:srgbClr val="1F1F1F"/>
                </a:highlight>
                <a:latin typeface="Courier New"/>
                <a:ea typeface="Courier New"/>
                <a:cs typeface="Courier New"/>
                <a:sym typeface="Courier New"/>
              </a:rPr>
              <a:t>=</a:t>
            </a:r>
            <a:r>
              <a:rPr lang="ru" sz="1050">
                <a:solidFill>
                  <a:srgbClr val="CE9178"/>
                </a:solidFill>
                <a:highlight>
                  <a:srgbClr val="1F1F1F"/>
                </a:highlight>
                <a:latin typeface="Courier New"/>
                <a:ea typeface="Courier New"/>
                <a:cs typeface="Courier New"/>
                <a:sym typeface="Courier New"/>
              </a:rPr>
              <a:t>"./js/script.js"</a:t>
            </a:r>
            <a:r>
              <a:rPr lang="ru" sz="1050">
                <a:solidFill>
                  <a:srgbClr val="808080"/>
                </a:solidFill>
                <a:highlight>
                  <a:srgbClr val="1F1F1F"/>
                </a:highlight>
                <a:latin typeface="Courier New"/>
                <a:ea typeface="Courier New"/>
                <a:cs typeface="Courier New"/>
                <a:sym typeface="Courier New"/>
              </a:rPr>
              <a:t>&gt;&lt;/</a:t>
            </a:r>
            <a:r>
              <a:rPr lang="ru" sz="1050">
                <a:solidFill>
                  <a:srgbClr val="569CD6"/>
                </a:solidFill>
                <a:highlight>
                  <a:srgbClr val="1F1F1F"/>
                </a:highlight>
                <a:latin typeface="Courier New"/>
                <a:ea typeface="Courier New"/>
                <a:cs typeface="Courier New"/>
                <a:sym typeface="Courier New"/>
              </a:rPr>
              <a:t>script</a:t>
            </a:r>
            <a:r>
              <a:rPr lang="ru" sz="1050">
                <a:solidFill>
                  <a:srgbClr val="808080"/>
                </a:solidFill>
                <a:highlight>
                  <a:srgbClr val="1F1F1F"/>
                </a:highlight>
                <a:latin typeface="Courier New"/>
                <a:ea typeface="Courier New"/>
                <a:cs typeface="Courier New"/>
                <a:sym typeface="Courier New"/>
              </a:rPr>
              <a:t>&gt;</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b="1" lang="ru" sz="1100">
                <a:solidFill>
                  <a:schemeClr val="dk1"/>
                </a:solidFill>
              </a:rPr>
              <a:t>Змінні</a:t>
            </a:r>
            <a:r>
              <a:rPr b="1" lang="ru" sz="1100">
                <a:solidFill>
                  <a:schemeClr val="dk1"/>
                </a:solidFill>
              </a:rPr>
              <a:t> та типи даних</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JavaScript має типи даних: </a:t>
            </a:r>
            <a:r>
              <a:rPr lang="ru" sz="1100">
                <a:solidFill>
                  <a:srgbClr val="188038"/>
                </a:solidFill>
                <a:latin typeface="Roboto Mono"/>
                <a:ea typeface="Roboto Mono"/>
                <a:cs typeface="Roboto Mono"/>
                <a:sym typeface="Roboto Mono"/>
              </a:rPr>
              <a:t>string</a:t>
            </a:r>
            <a:r>
              <a:rPr lang="ru" sz="1100">
                <a:solidFill>
                  <a:schemeClr val="dk1"/>
                </a:solidFill>
              </a:rPr>
              <a:t>, </a:t>
            </a:r>
            <a:r>
              <a:rPr lang="ru" sz="1100">
                <a:solidFill>
                  <a:srgbClr val="188038"/>
                </a:solidFill>
                <a:latin typeface="Roboto Mono"/>
                <a:ea typeface="Roboto Mono"/>
                <a:cs typeface="Roboto Mono"/>
                <a:sym typeface="Roboto Mono"/>
              </a:rPr>
              <a:t>number</a:t>
            </a:r>
            <a:r>
              <a:rPr lang="ru" sz="1100">
                <a:solidFill>
                  <a:schemeClr val="dk1"/>
                </a:solidFill>
              </a:rPr>
              <a:t>, </a:t>
            </a:r>
            <a:r>
              <a:rPr lang="ru" sz="1100">
                <a:solidFill>
                  <a:srgbClr val="188038"/>
                </a:solidFill>
                <a:latin typeface="Roboto Mono"/>
                <a:ea typeface="Roboto Mono"/>
                <a:cs typeface="Roboto Mono"/>
                <a:sym typeface="Roboto Mono"/>
              </a:rPr>
              <a:t>boolean</a:t>
            </a:r>
            <a:r>
              <a:rPr lang="ru" sz="1100">
                <a:solidFill>
                  <a:schemeClr val="dk1"/>
                </a:solidFill>
              </a:rPr>
              <a:t>, </a:t>
            </a:r>
            <a:r>
              <a:rPr lang="ru" sz="1100">
                <a:solidFill>
                  <a:srgbClr val="188038"/>
                </a:solidFill>
                <a:latin typeface="Roboto Mono"/>
                <a:ea typeface="Roboto Mono"/>
                <a:cs typeface="Roboto Mono"/>
                <a:sym typeface="Roboto Mono"/>
              </a:rPr>
              <a:t>object</a:t>
            </a:r>
            <a:r>
              <a:rPr lang="ru" sz="1100">
                <a:solidFill>
                  <a:schemeClr val="dk1"/>
                </a:solidFill>
              </a:rPr>
              <a:t>, </a:t>
            </a:r>
            <a:r>
              <a:rPr lang="ru" sz="1100">
                <a:solidFill>
                  <a:srgbClr val="188038"/>
                </a:solidFill>
                <a:latin typeface="Roboto Mono"/>
                <a:ea typeface="Roboto Mono"/>
                <a:cs typeface="Roboto Mono"/>
                <a:sym typeface="Roboto Mono"/>
              </a:rPr>
              <a:t>null</a:t>
            </a:r>
            <a:r>
              <a:rPr lang="ru" sz="1100">
                <a:solidFill>
                  <a:schemeClr val="dk1"/>
                </a:solidFill>
              </a:rPr>
              <a:t>, і </a:t>
            </a:r>
            <a:r>
              <a:rPr lang="ru" sz="1100">
                <a:solidFill>
                  <a:srgbClr val="188038"/>
                </a:solidFill>
                <a:latin typeface="Roboto Mono"/>
                <a:ea typeface="Roboto Mono"/>
                <a:cs typeface="Roboto Mono"/>
                <a:sym typeface="Roboto Mono"/>
              </a:rPr>
              <a:t>undefined</a:t>
            </a:r>
            <a:r>
              <a:rPr lang="ru" sz="1100">
                <a:solidFill>
                  <a:schemeClr val="dk1"/>
                </a:solidFill>
              </a:rPr>
              <a:t>, що дозволяє ефективно працювати з різноманітними даними.</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Змінні оголошуються за допомогою </a:t>
            </a:r>
            <a:r>
              <a:rPr lang="ru" sz="1100">
                <a:solidFill>
                  <a:srgbClr val="188038"/>
                </a:solidFill>
                <a:latin typeface="Roboto Mono"/>
                <a:ea typeface="Roboto Mono"/>
                <a:cs typeface="Roboto Mono"/>
                <a:sym typeface="Roboto Mono"/>
              </a:rPr>
              <a:t>var</a:t>
            </a:r>
            <a:r>
              <a:rPr lang="ru" sz="1100">
                <a:solidFill>
                  <a:schemeClr val="dk1"/>
                </a:solidFill>
              </a:rPr>
              <a:t>, </a:t>
            </a:r>
            <a:r>
              <a:rPr lang="ru" sz="1100">
                <a:solidFill>
                  <a:srgbClr val="188038"/>
                </a:solidFill>
                <a:latin typeface="Roboto Mono"/>
                <a:ea typeface="Roboto Mono"/>
                <a:cs typeface="Roboto Mono"/>
                <a:sym typeface="Roboto Mono"/>
              </a:rPr>
              <a:t>let</a:t>
            </a:r>
            <a:r>
              <a:rPr lang="ru" sz="1100">
                <a:solidFill>
                  <a:schemeClr val="dk1"/>
                </a:solidFill>
              </a:rPr>
              <a:t>, і </a:t>
            </a:r>
            <a:r>
              <a:rPr lang="ru" sz="1100">
                <a:solidFill>
                  <a:srgbClr val="188038"/>
                </a:solidFill>
                <a:latin typeface="Roboto Mono"/>
                <a:ea typeface="Roboto Mono"/>
                <a:cs typeface="Roboto Mono"/>
                <a:sym typeface="Roboto Mono"/>
              </a:rPr>
              <a:t>const</a:t>
            </a:r>
            <a:r>
              <a:rPr lang="ru" sz="1100">
                <a:solidFill>
                  <a:schemeClr val="dk1"/>
                </a:solidFill>
              </a:rPr>
              <a:t> для зберігання даних, які можуть змінюватися або залишатися сталими.</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Оператори</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Для маніпулювання даними використовуються арифметичні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логічні (</a:t>
            </a:r>
            <a:r>
              <a:rPr lang="ru" sz="1100">
                <a:solidFill>
                  <a:srgbClr val="188038"/>
                </a:solidFill>
                <a:latin typeface="Roboto Mono"/>
                <a:ea typeface="Roboto Mono"/>
                <a:cs typeface="Roboto Mono"/>
                <a:sym typeface="Roboto Mono"/>
              </a:rPr>
              <a:t>&amp;&amp;</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та порівняльні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a:t>
            </a:r>
            <a:r>
              <a:rPr lang="ru" sz="1100">
                <a:solidFill>
                  <a:schemeClr val="dk1"/>
                </a:solidFill>
              </a:rPr>
              <a:t>, </a:t>
            </a:r>
            <a:r>
              <a:rPr lang="ru" sz="1100">
                <a:solidFill>
                  <a:srgbClr val="188038"/>
                </a:solidFill>
                <a:latin typeface="Roboto Mono"/>
                <a:ea typeface="Roboto Mono"/>
                <a:cs typeface="Roboto Mono"/>
                <a:sym typeface="Roboto Mono"/>
              </a:rPr>
              <a:t>&gt;</a:t>
            </a:r>
            <a:r>
              <a:rPr lang="ru" sz="1100">
                <a:solidFill>
                  <a:schemeClr val="dk1"/>
                </a:solidFill>
              </a:rPr>
              <a:t>, </a:t>
            </a:r>
            <a:r>
              <a:rPr lang="ru" sz="1100">
                <a:solidFill>
                  <a:srgbClr val="188038"/>
                </a:solidFill>
                <a:latin typeface="Roboto Mono"/>
                <a:ea typeface="Roboto Mono"/>
                <a:cs typeface="Roboto Mono"/>
                <a:sym typeface="Roboto Mono"/>
              </a:rPr>
              <a:t>&lt;</a:t>
            </a:r>
            <a:r>
              <a:rPr lang="ru" sz="1100">
                <a:solidFill>
                  <a:schemeClr val="dk1"/>
                </a:solidFill>
              </a:rPr>
              <a:t>) оператори.</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Функції та область видимості</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Функції — це блоки коду, призначені для виконання певних задач, які можна викликати багаторазово. Вони допомагають організувати код та сприяють його перевикористанню.</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Область видимості змінних визначає, де ці змінні доступні в коді, впливаючи на їх використання та доступність.</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idx="1" type="body"/>
          </p:nvPr>
        </p:nvSpPr>
        <p:spPr>
          <a:xfrm>
            <a:off x="311700" y="173025"/>
            <a:ext cx="8520600" cy="439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ru" sz="1100">
                <a:solidFill>
                  <a:schemeClr val="dk1"/>
                </a:solidFill>
              </a:rPr>
              <a:t>Взаємодія з користувачем через події</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Події є фундаментальними для інтерактивності веб-сайтів, дозволяючи веб-додаткам реагувати на дії користувача, такі як кліки миші, натискання клавіш, рух курсора миші, введення в текстові поля.</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Приклади стандартних подій</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rgbClr val="188038"/>
                </a:solidFill>
                <a:latin typeface="Roboto Mono"/>
                <a:ea typeface="Roboto Mono"/>
                <a:cs typeface="Roboto Mono"/>
                <a:sym typeface="Roboto Mono"/>
              </a:rPr>
              <a:t>click</a:t>
            </a:r>
            <a:r>
              <a:rPr lang="ru" sz="1100">
                <a:solidFill>
                  <a:schemeClr val="dk1"/>
                </a:solidFill>
              </a:rPr>
              <a:t> для реакції на кліки миші.</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rgbClr val="188038"/>
                </a:solidFill>
                <a:latin typeface="Roboto Mono"/>
                <a:ea typeface="Roboto Mono"/>
                <a:cs typeface="Roboto Mono"/>
                <a:sym typeface="Roboto Mono"/>
              </a:rPr>
              <a:t>mouseover</a:t>
            </a:r>
            <a:r>
              <a:rPr lang="ru" sz="1100">
                <a:solidFill>
                  <a:schemeClr val="dk1"/>
                </a:solidFill>
              </a:rPr>
              <a:t> та </a:t>
            </a:r>
            <a:r>
              <a:rPr lang="ru" sz="1100">
                <a:solidFill>
                  <a:srgbClr val="188038"/>
                </a:solidFill>
                <a:latin typeface="Roboto Mono"/>
                <a:ea typeface="Roboto Mono"/>
                <a:cs typeface="Roboto Mono"/>
                <a:sym typeface="Roboto Mono"/>
              </a:rPr>
              <a:t>mouseout</a:t>
            </a:r>
            <a:r>
              <a:rPr lang="ru" sz="1100">
                <a:solidFill>
                  <a:schemeClr val="dk1"/>
                </a:solidFill>
              </a:rPr>
              <a:t> для взаємодії з курсором миші.</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rgbClr val="188038"/>
                </a:solidFill>
                <a:latin typeface="Roboto Mono"/>
                <a:ea typeface="Roboto Mono"/>
                <a:cs typeface="Roboto Mono"/>
                <a:sym typeface="Roboto Mono"/>
              </a:rPr>
              <a:t>keydown</a:t>
            </a:r>
            <a:r>
              <a:rPr lang="ru" sz="1100">
                <a:solidFill>
                  <a:schemeClr val="dk1"/>
                </a:solidFill>
              </a:rPr>
              <a:t> та </a:t>
            </a:r>
            <a:r>
              <a:rPr lang="ru" sz="1100">
                <a:solidFill>
                  <a:srgbClr val="188038"/>
                </a:solidFill>
                <a:latin typeface="Roboto Mono"/>
                <a:ea typeface="Roboto Mono"/>
                <a:cs typeface="Roboto Mono"/>
                <a:sym typeface="Roboto Mono"/>
              </a:rPr>
              <a:t>keyup</a:t>
            </a:r>
            <a:r>
              <a:rPr lang="ru" sz="1100">
                <a:solidFill>
                  <a:schemeClr val="dk1"/>
                </a:solidFill>
              </a:rPr>
              <a:t> для обробки натискань клавіш.</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rgbClr val="188038"/>
                </a:solidFill>
                <a:latin typeface="Roboto Mono"/>
                <a:ea typeface="Roboto Mono"/>
                <a:cs typeface="Roboto Mono"/>
                <a:sym typeface="Roboto Mono"/>
              </a:rPr>
              <a:t>load</a:t>
            </a:r>
            <a:r>
              <a:rPr lang="ru" sz="1100">
                <a:solidFill>
                  <a:schemeClr val="dk1"/>
                </a:solidFill>
              </a:rPr>
              <a:t> для виконання коду після завантаження сторінки.</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Призначення обробників подій</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Обробники подій можуть бути призначені елементам сторінки через HTML атрибути (</a:t>
            </a:r>
            <a:r>
              <a:rPr lang="ru" sz="1100">
                <a:solidFill>
                  <a:srgbClr val="188038"/>
                </a:solidFill>
                <a:latin typeface="Roboto Mono"/>
                <a:ea typeface="Roboto Mono"/>
                <a:cs typeface="Roboto Mono"/>
                <a:sym typeface="Roboto Mono"/>
              </a:rPr>
              <a:t>onclick</a:t>
            </a:r>
            <a:r>
              <a:rPr lang="ru" sz="1100">
                <a:solidFill>
                  <a:schemeClr val="dk1"/>
                </a:solidFill>
              </a:rPr>
              <a:t>, </a:t>
            </a:r>
            <a:r>
              <a:rPr lang="ru" sz="1100">
                <a:solidFill>
                  <a:srgbClr val="188038"/>
                </a:solidFill>
                <a:latin typeface="Roboto Mono"/>
                <a:ea typeface="Roboto Mono"/>
                <a:cs typeface="Roboto Mono"/>
                <a:sym typeface="Roboto Mono"/>
              </a:rPr>
              <a:t>onmouseover</a:t>
            </a:r>
            <a:r>
              <a:rPr lang="ru" sz="1100">
                <a:solidFill>
                  <a:schemeClr val="dk1"/>
                </a:solidFill>
              </a:rPr>
              <a:t>), </a:t>
            </a:r>
            <a:br>
              <a:rPr lang="ru" sz="1100">
                <a:solidFill>
                  <a:schemeClr val="dk1"/>
                </a:solidFill>
              </a:rPr>
            </a:br>
            <a:r>
              <a:rPr lang="ru" sz="1100">
                <a:solidFill>
                  <a:schemeClr val="dk1"/>
                </a:solidFill>
              </a:rPr>
              <a:t>або прямо у JavaScript за допомогою властивостей елементів (</a:t>
            </a:r>
            <a:r>
              <a:rPr lang="ru" sz="1100">
                <a:solidFill>
                  <a:srgbClr val="188038"/>
                </a:solidFill>
                <a:latin typeface="Roboto Mono"/>
                <a:ea typeface="Roboto Mono"/>
                <a:cs typeface="Roboto Mono"/>
                <a:sym typeface="Roboto Mono"/>
              </a:rPr>
              <a:t>element.onclick</a:t>
            </a:r>
            <a:r>
              <a:rPr lang="ru" sz="1100">
                <a:solidFill>
                  <a:schemeClr val="dk1"/>
                </a:solidFill>
              </a:rPr>
              <a:t>) або через метод </a:t>
            </a:r>
            <a:r>
              <a:rPr lang="ru" sz="1100">
                <a:solidFill>
                  <a:srgbClr val="188038"/>
                </a:solidFill>
                <a:latin typeface="Roboto Mono"/>
                <a:ea typeface="Roboto Mono"/>
                <a:cs typeface="Roboto Mono"/>
                <a:sym typeface="Roboto Mono"/>
              </a:rPr>
              <a:t>addEventListener</a:t>
            </a:r>
            <a:r>
              <a:rPr lang="ru"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Використання </a:t>
            </a:r>
            <a:r>
              <a:rPr b="1" lang="ru" sz="1100">
                <a:solidFill>
                  <a:srgbClr val="188038"/>
                </a:solidFill>
                <a:latin typeface="Roboto Mono"/>
                <a:ea typeface="Roboto Mono"/>
                <a:cs typeface="Roboto Mono"/>
                <a:sym typeface="Roboto Mono"/>
              </a:rPr>
              <a:t>addEventListener</a:t>
            </a:r>
            <a:endParaRPr b="1" sz="1100">
              <a:solidFill>
                <a:srgbClr val="188038"/>
              </a:solidFill>
              <a:latin typeface="Roboto Mono"/>
              <a:ea typeface="Roboto Mono"/>
              <a:cs typeface="Roboto Mono"/>
              <a:sym typeface="Roboto Mono"/>
            </a:endParaRPr>
          </a:p>
          <a:p>
            <a:pPr indent="-298450" lvl="0" marL="457200" rtl="0" algn="l">
              <a:spcBef>
                <a:spcPts val="1200"/>
              </a:spcBef>
              <a:spcAft>
                <a:spcPts val="0"/>
              </a:spcAft>
              <a:buClr>
                <a:schemeClr val="dk1"/>
              </a:buClr>
              <a:buSzPts val="1100"/>
              <a:buChar char="●"/>
            </a:pPr>
            <a:r>
              <a:rPr lang="ru" sz="1100">
                <a:solidFill>
                  <a:schemeClr val="dk1"/>
                </a:solidFill>
              </a:rPr>
              <a:t>Метод </a:t>
            </a:r>
            <a:r>
              <a:rPr lang="ru" sz="1100">
                <a:solidFill>
                  <a:srgbClr val="188038"/>
                </a:solidFill>
                <a:latin typeface="Roboto Mono"/>
                <a:ea typeface="Roboto Mono"/>
                <a:cs typeface="Roboto Mono"/>
                <a:sym typeface="Roboto Mono"/>
              </a:rPr>
              <a:t>addEventListener</a:t>
            </a:r>
            <a:r>
              <a:rPr lang="ru" sz="1100">
                <a:solidFill>
                  <a:schemeClr val="dk1"/>
                </a:solidFill>
              </a:rPr>
              <a:t> дозволяє призначати багато обробників для однієї події, забезпечуючи більш гнучку та могутню систему управління подіями, ніж традиційне призначення через властивості.</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idx="1" type="body"/>
          </p:nvPr>
        </p:nvSpPr>
        <p:spPr>
          <a:xfrm>
            <a:off x="311700" y="188750"/>
            <a:ext cx="8520600" cy="4380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ru" sz="1100">
                <a:solidFill>
                  <a:schemeClr val="dk1"/>
                </a:solidFill>
              </a:rPr>
              <a:t>Що таке DOM?</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DOM (Document Object Model) є програмним інтерфейсом веб-документів, який представляє структуру документа у вигляді дерева об'єктів, дозволяючи скриптам змінювати документ: його структуру, стиль і вміст.</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Пошук елементів у DOM</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Використання методів </a:t>
            </a:r>
            <a:r>
              <a:rPr lang="ru" sz="1100">
                <a:solidFill>
                  <a:srgbClr val="188038"/>
                </a:solidFill>
                <a:latin typeface="Roboto Mono"/>
                <a:ea typeface="Roboto Mono"/>
                <a:cs typeface="Roboto Mono"/>
                <a:sym typeface="Roboto Mono"/>
              </a:rPr>
              <a:t>getElementById</a:t>
            </a:r>
            <a:r>
              <a:rPr lang="ru" sz="1100">
                <a:solidFill>
                  <a:schemeClr val="dk1"/>
                </a:solidFill>
              </a:rPr>
              <a:t>, </a:t>
            </a:r>
            <a:r>
              <a:rPr lang="ru" sz="1100">
                <a:solidFill>
                  <a:srgbClr val="188038"/>
                </a:solidFill>
                <a:latin typeface="Roboto Mono"/>
                <a:ea typeface="Roboto Mono"/>
                <a:cs typeface="Roboto Mono"/>
                <a:sym typeface="Roboto Mono"/>
              </a:rPr>
              <a:t>getElementsByClassName</a:t>
            </a:r>
            <a:r>
              <a:rPr lang="ru" sz="1100">
                <a:solidFill>
                  <a:schemeClr val="dk1"/>
                </a:solidFill>
              </a:rPr>
              <a:t>, </a:t>
            </a:r>
            <a:r>
              <a:rPr lang="ru" sz="1100">
                <a:solidFill>
                  <a:srgbClr val="188038"/>
                </a:solidFill>
                <a:latin typeface="Roboto Mono"/>
                <a:ea typeface="Roboto Mono"/>
                <a:cs typeface="Roboto Mono"/>
                <a:sym typeface="Roboto Mono"/>
              </a:rPr>
              <a:t>getElementsByTagName</a:t>
            </a:r>
            <a:r>
              <a:rPr lang="ru" sz="1100">
                <a:solidFill>
                  <a:schemeClr val="dk1"/>
                </a:solidFill>
              </a:rPr>
              <a:t> та новітніх </a:t>
            </a:r>
            <a:r>
              <a:rPr lang="ru" sz="1100">
                <a:solidFill>
                  <a:srgbClr val="188038"/>
                </a:solidFill>
                <a:latin typeface="Roboto Mono"/>
                <a:ea typeface="Roboto Mono"/>
                <a:cs typeface="Roboto Mono"/>
                <a:sym typeface="Roboto Mono"/>
              </a:rPr>
              <a:t>querySelector</a:t>
            </a:r>
            <a:r>
              <a:rPr lang="ru" sz="1100">
                <a:solidFill>
                  <a:schemeClr val="dk1"/>
                </a:solidFill>
              </a:rPr>
              <a:t> і </a:t>
            </a:r>
            <a:r>
              <a:rPr lang="ru" sz="1100">
                <a:solidFill>
                  <a:srgbClr val="188038"/>
                </a:solidFill>
                <a:latin typeface="Roboto Mono"/>
                <a:ea typeface="Roboto Mono"/>
                <a:cs typeface="Roboto Mono"/>
                <a:sym typeface="Roboto Mono"/>
              </a:rPr>
              <a:t>querySelectorAll</a:t>
            </a:r>
            <a:r>
              <a:rPr lang="ru" sz="1100">
                <a:solidFill>
                  <a:schemeClr val="dk1"/>
                </a:solidFill>
              </a:rPr>
              <a:t> для пошуку елементів в документі.</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Зміна властивостей та вмісту елементів</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Як змінити текстовий вміст за допомогою </a:t>
            </a:r>
            <a:r>
              <a:rPr lang="ru" sz="1100">
                <a:solidFill>
                  <a:srgbClr val="188038"/>
                </a:solidFill>
                <a:latin typeface="Roboto Mono"/>
                <a:ea typeface="Roboto Mono"/>
                <a:cs typeface="Roboto Mono"/>
                <a:sym typeface="Roboto Mono"/>
              </a:rPr>
              <a:t>textContent</a:t>
            </a:r>
            <a:r>
              <a:rPr lang="ru" sz="1100">
                <a:solidFill>
                  <a:schemeClr val="dk1"/>
                </a:solidFill>
              </a:rPr>
              <a:t> або </a:t>
            </a:r>
            <a:r>
              <a:rPr lang="ru" sz="1100">
                <a:solidFill>
                  <a:srgbClr val="188038"/>
                </a:solidFill>
                <a:latin typeface="Roboto Mono"/>
                <a:ea typeface="Roboto Mono"/>
                <a:cs typeface="Roboto Mono"/>
                <a:sym typeface="Roboto Mono"/>
              </a:rPr>
              <a:t>innerText</a:t>
            </a:r>
            <a:r>
              <a:rPr lang="ru"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Модифікація HTML вмісту через </a:t>
            </a:r>
            <a:r>
              <a:rPr lang="ru" sz="1100">
                <a:solidFill>
                  <a:srgbClr val="188038"/>
                </a:solidFill>
                <a:latin typeface="Roboto Mono"/>
                <a:ea typeface="Roboto Mono"/>
                <a:cs typeface="Roboto Mono"/>
                <a:sym typeface="Roboto Mono"/>
              </a:rPr>
              <a:t>innerHTML</a:t>
            </a:r>
            <a:r>
              <a:rPr lang="ru"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Внесення змін до атрибутів елементів, таких як </a:t>
            </a:r>
            <a:r>
              <a:rPr lang="ru" sz="1100">
                <a:solidFill>
                  <a:srgbClr val="188038"/>
                </a:solidFill>
                <a:latin typeface="Roboto Mono"/>
                <a:ea typeface="Roboto Mono"/>
                <a:cs typeface="Roboto Mono"/>
                <a:sym typeface="Roboto Mono"/>
              </a:rPr>
              <a:t>id</a:t>
            </a:r>
            <a:r>
              <a:rPr lang="ru" sz="1100">
                <a:solidFill>
                  <a:schemeClr val="dk1"/>
                </a:solidFill>
              </a:rPr>
              <a:t>, </a:t>
            </a:r>
            <a:r>
              <a:rPr lang="ru" sz="1100">
                <a:solidFill>
                  <a:srgbClr val="188038"/>
                </a:solidFill>
                <a:latin typeface="Roboto Mono"/>
                <a:ea typeface="Roboto Mono"/>
                <a:cs typeface="Roboto Mono"/>
                <a:sym typeface="Roboto Mono"/>
              </a:rPr>
              <a:t>class</a:t>
            </a:r>
            <a:r>
              <a:rPr lang="ru" sz="1100">
                <a:solidFill>
                  <a:schemeClr val="dk1"/>
                </a:solidFill>
              </a:rPr>
              <a:t> та інших, використовуючи </a:t>
            </a:r>
            <a:r>
              <a:rPr lang="ru" sz="1100">
                <a:solidFill>
                  <a:srgbClr val="188038"/>
                </a:solidFill>
                <a:latin typeface="Roboto Mono"/>
                <a:ea typeface="Roboto Mono"/>
                <a:cs typeface="Roboto Mono"/>
                <a:sym typeface="Roboto Mono"/>
              </a:rPr>
              <a:t>setAttribute</a:t>
            </a:r>
            <a:r>
              <a:rPr lang="ru" sz="1100">
                <a:solidFill>
                  <a:schemeClr val="dk1"/>
                </a:solidFill>
              </a:rPr>
              <a:t> та </a:t>
            </a:r>
            <a:r>
              <a:rPr lang="ru" sz="1100">
                <a:solidFill>
                  <a:srgbClr val="188038"/>
                </a:solidFill>
                <a:latin typeface="Roboto Mono"/>
                <a:ea typeface="Roboto Mono"/>
                <a:cs typeface="Roboto Mono"/>
                <a:sym typeface="Roboto Mono"/>
              </a:rPr>
              <a:t>removeAttribute</a:t>
            </a:r>
            <a:r>
              <a:rPr lang="ru"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Стилізація елементів через JavaScript</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Використання </a:t>
            </a:r>
            <a:r>
              <a:rPr lang="ru" sz="1100">
                <a:solidFill>
                  <a:srgbClr val="188038"/>
                </a:solidFill>
                <a:latin typeface="Roboto Mono"/>
                <a:ea typeface="Roboto Mono"/>
                <a:cs typeface="Roboto Mono"/>
                <a:sym typeface="Roboto Mono"/>
              </a:rPr>
              <a:t>style</a:t>
            </a:r>
            <a:r>
              <a:rPr lang="ru" sz="1100">
                <a:solidFill>
                  <a:schemeClr val="dk1"/>
                </a:solidFill>
              </a:rPr>
              <a:t> властивості для динамічної зміни стилів елементів, наприклад, зміна кольорів, розмірів, відображення (display) та інших CSS властивостей.</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Додавання та видалення елементів</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Методи </a:t>
            </a:r>
            <a:r>
              <a:rPr lang="ru" sz="1100">
                <a:solidFill>
                  <a:srgbClr val="188038"/>
                </a:solidFill>
                <a:latin typeface="Roboto Mono"/>
                <a:ea typeface="Roboto Mono"/>
                <a:cs typeface="Roboto Mono"/>
                <a:sym typeface="Roboto Mono"/>
              </a:rPr>
              <a:t>createElement</a:t>
            </a:r>
            <a:r>
              <a:rPr lang="ru" sz="1100">
                <a:solidFill>
                  <a:schemeClr val="dk1"/>
                </a:solidFill>
              </a:rPr>
              <a:t> для створення нових елементів, </a:t>
            </a:r>
            <a:r>
              <a:rPr lang="ru" sz="1100">
                <a:solidFill>
                  <a:srgbClr val="188038"/>
                </a:solidFill>
                <a:latin typeface="Roboto Mono"/>
                <a:ea typeface="Roboto Mono"/>
                <a:cs typeface="Roboto Mono"/>
                <a:sym typeface="Roboto Mono"/>
              </a:rPr>
              <a:t>appendChild</a:t>
            </a:r>
            <a:r>
              <a:rPr lang="ru" sz="1100">
                <a:solidFill>
                  <a:schemeClr val="dk1"/>
                </a:solidFill>
              </a:rPr>
              <a:t> та </a:t>
            </a:r>
            <a:r>
              <a:rPr lang="ru" sz="1100">
                <a:solidFill>
                  <a:srgbClr val="188038"/>
                </a:solidFill>
                <a:latin typeface="Roboto Mono"/>
                <a:ea typeface="Roboto Mono"/>
                <a:cs typeface="Roboto Mono"/>
                <a:sym typeface="Roboto Mono"/>
              </a:rPr>
              <a:t>insertBefore</a:t>
            </a:r>
            <a:r>
              <a:rPr lang="ru" sz="1100">
                <a:solidFill>
                  <a:schemeClr val="dk1"/>
                </a:solidFill>
              </a:rPr>
              <a:t> для додавання елементів до DOM, та </a:t>
            </a:r>
            <a:r>
              <a:rPr lang="ru" sz="1100">
                <a:solidFill>
                  <a:srgbClr val="188038"/>
                </a:solidFill>
                <a:latin typeface="Roboto Mono"/>
                <a:ea typeface="Roboto Mono"/>
                <a:cs typeface="Roboto Mono"/>
                <a:sym typeface="Roboto Mono"/>
              </a:rPr>
              <a:t>removeChild</a:t>
            </a:r>
            <a:r>
              <a:rPr lang="ru" sz="1100">
                <a:solidFill>
                  <a:schemeClr val="dk1"/>
                </a:solidFill>
              </a:rPr>
              <a:t> для їх видалення, дозволяючи динамічно оновлювати веб-сторінки.</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idx="1" type="body"/>
          </p:nvPr>
        </p:nvSpPr>
        <p:spPr>
          <a:xfrm>
            <a:off x="311700" y="259525"/>
            <a:ext cx="8520600" cy="430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ru" sz="1100">
                <a:solidFill>
                  <a:schemeClr val="dk1"/>
                </a:solidFill>
              </a:rPr>
              <a:t>Взаємодія з формами через DOM</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Доступ до форм та їх елементів використовуючи DOM, що дозволяє читати та міняти значення полів вводу, відстежувати стан чекбоксів та радіокнопок, а також реагувати на події, пов'язані з формами, наприклад </a:t>
            </a:r>
            <a:r>
              <a:rPr lang="ru" sz="1100">
                <a:solidFill>
                  <a:srgbClr val="188038"/>
                </a:solidFill>
                <a:latin typeface="Roboto Mono"/>
                <a:ea typeface="Roboto Mono"/>
                <a:cs typeface="Roboto Mono"/>
                <a:sym typeface="Roboto Mono"/>
              </a:rPr>
              <a:t>submit</a:t>
            </a:r>
            <a:r>
              <a:rPr lang="ru"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Валідація даних на стороні клієнта</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Використання JavaScript для перевірки введених користувачем даних перед їх надсиланням на сервер. Це включає перевірку на відповідність форматам, таким як електронна адреса, телефонний номер, обов'язкові поля, що не повинні бути порожніми, та інше.</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Повідомлення про помилки валідації</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Динамічне відображення повідомлень про помилки або підказок поруч з відповідними полями форми, що значно покращує досвід користувача, роблячи інтерфейс дружнім та інтуїтивно зрозумілим.</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Події форми</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Обробка подій форми, таких як </a:t>
            </a:r>
            <a:r>
              <a:rPr lang="ru" sz="1100">
                <a:solidFill>
                  <a:srgbClr val="188038"/>
                </a:solidFill>
                <a:latin typeface="Roboto Mono"/>
                <a:ea typeface="Roboto Mono"/>
                <a:cs typeface="Roboto Mono"/>
                <a:sym typeface="Roboto Mono"/>
              </a:rPr>
              <a:t>submit</a:t>
            </a:r>
            <a:r>
              <a:rPr lang="ru" sz="1100">
                <a:solidFill>
                  <a:schemeClr val="dk1"/>
                </a:solidFill>
              </a:rPr>
              <a:t>, для запуску валідації або виконання іншого коду перед відправкою форми. Використання </a:t>
            </a:r>
            <a:r>
              <a:rPr lang="ru" sz="1100">
                <a:solidFill>
                  <a:srgbClr val="188038"/>
                </a:solidFill>
                <a:latin typeface="Roboto Mono"/>
                <a:ea typeface="Roboto Mono"/>
                <a:cs typeface="Roboto Mono"/>
                <a:sym typeface="Roboto Mono"/>
              </a:rPr>
              <a:t>event.preventDefault()</a:t>
            </a:r>
            <a:r>
              <a:rPr lang="ru" sz="1100">
                <a:solidFill>
                  <a:schemeClr val="dk1"/>
                </a:solidFill>
              </a:rPr>
              <a:t> для запобігання стандартній поведінці форми, коли потрібно спочатку перевірити дані на валідність.</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0"/>
          <p:cNvSpPr txBox="1"/>
          <p:nvPr>
            <p:ph idx="1" type="body"/>
          </p:nvPr>
        </p:nvSpPr>
        <p:spPr>
          <a:xfrm>
            <a:off x="311700" y="220200"/>
            <a:ext cx="8520600" cy="471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ru" sz="1100">
                <a:solidFill>
                  <a:schemeClr val="dk1"/>
                </a:solidFill>
              </a:rPr>
              <a:t>AJAX: асинхронна взаємодія з сервером</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AJAX (Asynchronous JavaScript and XML) дозволяє веб-додаткам асинхронно надсилати та отримувати дані з сервера без необхідності перезавантажувати сторінку, покращуючи тим самим користувацький досвід.</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Використання </a:t>
            </a:r>
            <a:r>
              <a:rPr b="1" lang="ru" sz="1100">
                <a:solidFill>
                  <a:srgbClr val="188038"/>
                </a:solidFill>
                <a:latin typeface="Roboto Mono"/>
                <a:ea typeface="Roboto Mono"/>
                <a:cs typeface="Roboto Mono"/>
                <a:sym typeface="Roboto Mono"/>
              </a:rPr>
              <a:t>XMLHttpRequest</a:t>
            </a:r>
            <a:endParaRPr b="1" sz="1100">
              <a:solidFill>
                <a:srgbClr val="188038"/>
              </a:solidFill>
              <a:latin typeface="Roboto Mono"/>
              <a:ea typeface="Roboto Mono"/>
              <a:cs typeface="Roboto Mono"/>
              <a:sym typeface="Roboto Mono"/>
            </a:endParaRPr>
          </a:p>
          <a:p>
            <a:pPr indent="-298450" lvl="0" marL="457200" rtl="0" algn="l">
              <a:spcBef>
                <a:spcPts val="1200"/>
              </a:spcBef>
              <a:spcAft>
                <a:spcPts val="0"/>
              </a:spcAft>
              <a:buClr>
                <a:schemeClr val="dk1"/>
              </a:buClr>
              <a:buSzPts val="1100"/>
              <a:buChar char="●"/>
            </a:pPr>
            <a:r>
              <a:rPr lang="ru" sz="1100">
                <a:solidFill>
                  <a:srgbClr val="188038"/>
                </a:solidFill>
                <a:latin typeface="Roboto Mono"/>
                <a:ea typeface="Roboto Mono"/>
                <a:cs typeface="Roboto Mono"/>
                <a:sym typeface="Roboto Mono"/>
              </a:rPr>
              <a:t>XMLHttpRequest</a:t>
            </a:r>
            <a:r>
              <a:rPr lang="ru" sz="1100">
                <a:solidFill>
                  <a:schemeClr val="dk1"/>
                </a:solidFill>
              </a:rPr>
              <a:t> є основним об'єктом для роботи з AJAX у JavaScript, дозволяючи створювати запити до сервера, відправляти дані та обробляти відповіді.</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Проміси та </a:t>
            </a:r>
            <a:r>
              <a:rPr b="1" lang="ru" sz="1100">
                <a:solidFill>
                  <a:srgbClr val="188038"/>
                </a:solidFill>
                <a:latin typeface="Roboto Mono"/>
                <a:ea typeface="Roboto Mono"/>
                <a:cs typeface="Roboto Mono"/>
                <a:sym typeface="Roboto Mono"/>
              </a:rPr>
              <a:t>fetch</a:t>
            </a:r>
            <a:r>
              <a:rPr b="1" lang="ru" sz="1100">
                <a:solidFill>
                  <a:schemeClr val="dk1"/>
                </a:solidFill>
              </a:rPr>
              <a:t> API</a:t>
            </a:r>
            <a:endParaRPr b="1"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З приходом ES6, проміси стали частиною JavaScript, надаючи більш зручний та потужний інтерфейс для асинхронного програмування. </a:t>
            </a:r>
            <a:r>
              <a:rPr lang="ru" sz="1100">
                <a:solidFill>
                  <a:srgbClr val="188038"/>
                </a:solidFill>
                <a:latin typeface="Roboto Mono"/>
                <a:ea typeface="Roboto Mono"/>
                <a:cs typeface="Roboto Mono"/>
                <a:sym typeface="Roboto Mono"/>
              </a:rPr>
              <a:t>fetch</a:t>
            </a:r>
            <a:r>
              <a:rPr lang="ru" sz="1100">
                <a:solidFill>
                  <a:schemeClr val="dk1"/>
                </a:solidFill>
              </a:rPr>
              <a:t> API використовує проміси для спрощення виконання асинхронних HTTP запитів.</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ph type="title"/>
          </p:nvPr>
        </p:nvSpPr>
        <p:spPr>
          <a:xfrm>
            <a:off x="311700" y="22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ru"/>
              <a:t>Дякую за увагу!</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